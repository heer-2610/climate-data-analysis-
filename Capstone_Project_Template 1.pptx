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20"/>
  </p:notesMasterIdLst>
  <p:sldIdLst>
    <p:sldId id="1300" r:id="rId5"/>
    <p:sldId id="1349" r:id="rId6"/>
    <p:sldId id="1291" r:id="rId7"/>
    <p:sldId id="1350" r:id="rId8"/>
    <p:sldId id="1351" r:id="rId9"/>
    <p:sldId id="1352" r:id="rId10"/>
    <p:sldId id="1353" r:id="rId11"/>
    <p:sldId id="1358" r:id="rId12"/>
    <p:sldId id="1359" r:id="rId13"/>
    <p:sldId id="1360" r:id="rId14"/>
    <p:sldId id="1354" r:id="rId15"/>
    <p:sldId id="1361" r:id="rId16"/>
    <p:sldId id="1355" r:id="rId17"/>
    <p:sldId id="1356" r:id="rId18"/>
    <p:sldId id="1250" r:id="rId19"/>
  </p:sldIdLst>
  <p:sldSz cx="12192000" cy="6858000"/>
  <p:notesSz cx="6858000" cy="9144000"/>
  <p:custDataLst>
    <p:tags r:id="rId2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829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4"/>
    <a:srgbClr val="EDEEFF"/>
    <a:srgbClr val="F9FFEB"/>
    <a:srgbClr val="EDFFC5"/>
    <a:srgbClr val="7FBA00"/>
    <a:srgbClr val="EBEEF9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482"/>
  </p:normalViewPr>
  <p:slideViewPr>
    <p:cSldViewPr snapToGrid="0" showGuides="1">
      <p:cViewPr varScale="1">
        <p:scale>
          <a:sx n="87" d="100"/>
          <a:sy n="87" d="100"/>
        </p:scale>
        <p:origin x="499" y="82"/>
      </p:cViewPr>
      <p:guideLst>
        <p:guide orient="horz" pos="829"/>
        <p:guide pos="192"/>
        <p:guide orient="horz" pos="10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 panose="02020603050405020304"/>
              </a:rPr>
              <a:t>1</a:t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 dirty="0">
                <a:solidFill>
                  <a:srgbClr val="223366"/>
                </a:solidFill>
              </a:rPr>
              <a:t>Thank You !!</a:t>
            </a:r>
            <a:endParaRPr lang="en-US" sz="1100" b="1" spc="-5" dirty="0">
              <a:solidFill>
                <a:srgbClr val="223366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089E-5BFA-40F0-B876-ADFE03496B7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122C-94FD-45B7-812A-8C690DBDD3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/>
          <p:cNvPicPr preferRelativeResize="0"/>
          <p:nvPr userDrawn="1"/>
        </p:nvPicPr>
        <p:blipFill rotWithShape="1">
          <a:blip r:embed="rId17"/>
          <a:srcRect/>
          <a:stretch>
            <a:fillRect/>
          </a:stretch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/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8">
            <a:alphaModFix amt="16000"/>
          </a:blip>
          <a:srcRect t="24724" r="1619" b="63695"/>
          <a:stretch>
            <a:fillRect/>
          </a:stretch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/>
          <p:cNvSpPr/>
          <p:nvPr/>
        </p:nvSpPr>
        <p:spPr>
          <a:xfrm>
            <a:off x="8687544" y="584200"/>
            <a:ext cx="211044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4093474" y="2008766"/>
            <a:ext cx="474572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Climate data Analysis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19" name="Picture 18" descr="A close up of a logo&#10;&#10;Description automatically generated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60259" y="3494967"/>
            <a:ext cx="6347011" cy="18162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Members: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Heer Modi [241133107026] </a:t>
            </a:r>
          </a:p>
          <a:p>
            <a:r>
              <a:rPr lang="en-US" dirty="0">
                <a:solidFill>
                  <a:schemeClr val="bg1"/>
                </a:solidFill>
              </a:rPr>
              <a:t>Harsh Panchal [241133107028]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College — Sal College of Engineering</a:t>
            </a:r>
            <a:endParaRPr lang="en-IN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1;g5fab984687_2_0"/>
          <p:cNvSpPr txBox="1">
            <a:spLocks noGrp="1"/>
          </p:cNvSpPr>
          <p:nvPr/>
        </p:nvSpPr>
        <p:spPr>
          <a:xfrm>
            <a:off x="407838" y="873305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b="1">
                <a:solidFill>
                  <a:srgbClr val="213163"/>
                </a:solidFill>
              </a:rPr>
              <a:t>Project Objectives</a:t>
            </a:r>
            <a:endParaRPr lang="en-US" sz="20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8" name="Google Shape;62;g5fab984687_2_0"/>
          <p:cNvSpPr txBox="1"/>
          <p:nvPr/>
        </p:nvSpPr>
        <p:spPr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Problem Statement</a:t>
            </a:r>
            <a:endParaRPr lang="en-US" sz="1100"/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Modelling/Block Diagram/Flow of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Future Perspective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071" y="981328"/>
            <a:ext cx="10914164" cy="27084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Problem Statement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US" sz="1800" dirty="0"/>
          </a:p>
          <a:p>
            <a:r>
              <a:rPr lang="en-US" sz="1600" dirty="0"/>
              <a:t>Climate datasets are large, heterogeneous, and often inaccessible to non-technical users. Existing tools lack interactive visualization, integrated trend detection, and an intuitive interface for domain experts.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Needs 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Centralized platform to process raw climate files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Clear visual summaries and correlation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Exportable results for downstream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071" y="972537"/>
            <a:ext cx="10498167" cy="3703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Project Overview – Introduction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US" dirty="0"/>
          </a:p>
          <a:p>
            <a:r>
              <a:rPr lang="en-US" sz="1600" dirty="0"/>
              <a:t>The Climate Data Analyzer is a Python Streamlit application that ingests CSVs, automatically preprocesses data, and produces interactive visualizations and trend analyses for multi-country and multi-indicator climate studies. </a:t>
            </a:r>
          </a:p>
          <a:p>
            <a:endParaRPr lang="en-US" sz="1600" b="1" dirty="0"/>
          </a:p>
          <a:p>
            <a:r>
              <a:rPr lang="en-US" sz="1600" b="1" dirty="0"/>
              <a:t>Upload &amp; Clean </a:t>
            </a:r>
            <a:endParaRPr lang="en-US" sz="1600" dirty="0"/>
          </a:p>
          <a:p>
            <a:r>
              <a:rPr lang="en-US" sz="1600" dirty="0"/>
              <a:t>Automated missing value handling, type conversion , and standardization. </a:t>
            </a:r>
          </a:p>
          <a:p>
            <a:endParaRPr lang="en-US" sz="1600" b="1" dirty="0"/>
          </a:p>
          <a:p>
            <a:r>
              <a:rPr lang="en-US" sz="1600" b="1" dirty="0"/>
              <a:t>Explore </a:t>
            </a:r>
            <a:endParaRPr lang="en-US" sz="1600" dirty="0"/>
          </a:p>
          <a:p>
            <a:r>
              <a:rPr lang="en-US" sz="1600" dirty="0"/>
              <a:t>Interactive charts: time series, bar/pie charts, and heatmaps. </a:t>
            </a:r>
          </a:p>
          <a:p>
            <a:endParaRPr lang="en-US" sz="1600" b="1" dirty="0"/>
          </a:p>
          <a:p>
            <a:r>
              <a:rPr lang="en-US" sz="1600" b="1" dirty="0"/>
              <a:t>Export </a:t>
            </a:r>
            <a:endParaRPr lang="en-US" sz="1600" dirty="0"/>
          </a:p>
          <a:p>
            <a:r>
              <a:rPr lang="en-US" sz="1600" dirty="0"/>
              <a:t>Filtered datasets can be downloaded for further research and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071" y="972537"/>
            <a:ext cx="9451883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End Users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US" sz="1600" b="1" dirty="0"/>
          </a:p>
          <a:p>
            <a:r>
              <a:rPr lang="en-US" sz="1600" b="1" dirty="0"/>
              <a:t>Climate Researchers </a:t>
            </a:r>
            <a:endParaRPr lang="en-US" sz="1600" dirty="0"/>
          </a:p>
          <a:p>
            <a:r>
              <a:rPr lang="en-US" sz="1600" dirty="0"/>
              <a:t>Deep-dive analyses to support papers and models. </a:t>
            </a:r>
          </a:p>
          <a:p>
            <a:endParaRPr lang="en-US" sz="1600" b="1" dirty="0"/>
          </a:p>
          <a:p>
            <a:r>
              <a:rPr lang="en-US" sz="1600" b="1" dirty="0"/>
              <a:t>Government &amp; Policy Makers </a:t>
            </a:r>
            <a:endParaRPr lang="en-US" sz="1600" dirty="0"/>
          </a:p>
          <a:p>
            <a:r>
              <a:rPr lang="en-US" sz="1600" dirty="0"/>
              <a:t>Evidence-based insights to inform policy and planning. </a:t>
            </a:r>
          </a:p>
          <a:p>
            <a:endParaRPr lang="en-US" sz="1600" b="1" dirty="0"/>
          </a:p>
          <a:p>
            <a:r>
              <a:rPr lang="en-US" sz="1600" b="1" dirty="0"/>
              <a:t>NGOs </a:t>
            </a:r>
            <a:endParaRPr lang="en-US" sz="1600" dirty="0"/>
          </a:p>
          <a:p>
            <a:r>
              <a:rPr lang="en-US" sz="1600" dirty="0"/>
              <a:t>Assess impacts and prioritize mitigation efforts. </a:t>
            </a:r>
          </a:p>
          <a:p>
            <a:endParaRPr lang="en-US" sz="1600" b="1" dirty="0"/>
          </a:p>
          <a:p>
            <a:r>
              <a:rPr lang="en-US" sz="1600" b="1" dirty="0"/>
              <a:t>Students &amp; Academics </a:t>
            </a:r>
            <a:endParaRPr lang="en-US" sz="1600" dirty="0"/>
          </a:p>
          <a:p>
            <a:r>
              <a:rPr lang="en-US" sz="1600" dirty="0"/>
              <a:t>Accessible tool for coursework and capstone research. </a:t>
            </a:r>
          </a:p>
          <a:p>
            <a:endParaRPr lang="en-US" sz="1600" b="1" dirty="0"/>
          </a:p>
          <a:p>
            <a:r>
              <a:rPr lang="en-US" sz="1600" b="1" dirty="0"/>
              <a:t>Data Analysts </a:t>
            </a:r>
            <a:endParaRPr lang="en-US" sz="1600" dirty="0"/>
          </a:p>
          <a:p>
            <a:r>
              <a:rPr lang="en-US" sz="1600" dirty="0"/>
              <a:t>Rapid prototyping and exploratory analysis of environmental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071" y="972537"/>
            <a:ext cx="8212167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Wow Factors in Project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r>
              <a:rPr lang="en-US" sz="1600" b="1" dirty="0"/>
              <a:t>Interactive Dashboard </a:t>
            </a:r>
            <a:endParaRPr lang="en-US" sz="1600" dirty="0"/>
          </a:p>
          <a:p>
            <a:r>
              <a:rPr lang="en-US" sz="1600" dirty="0"/>
              <a:t>Streamlit UI with responsive filters and dynamic charts. </a:t>
            </a:r>
          </a:p>
          <a:p>
            <a:endParaRPr lang="en-US" sz="1600" b="1" dirty="0"/>
          </a:p>
          <a:p>
            <a:r>
              <a:rPr lang="en-US" sz="1600" b="1" dirty="0"/>
              <a:t>Real-time Trend Analysis </a:t>
            </a:r>
            <a:endParaRPr lang="en-US" sz="1600" dirty="0"/>
          </a:p>
          <a:p>
            <a:r>
              <a:rPr lang="en-US" sz="1600" dirty="0"/>
              <a:t>On-the-fly linear regression and slope interpretation. </a:t>
            </a:r>
          </a:p>
          <a:p>
            <a:endParaRPr lang="en-US" sz="1600" b="1" dirty="0"/>
          </a:p>
          <a:p>
            <a:r>
              <a:rPr lang="en-US" sz="1600" b="1" dirty="0"/>
              <a:t>Multi-indicator Support </a:t>
            </a:r>
            <a:endParaRPr lang="en-US" sz="1600" dirty="0"/>
          </a:p>
          <a:p>
            <a:r>
              <a:rPr lang="en-US" sz="1600" dirty="0"/>
              <a:t>Compare countries, indicators, and timespans simultaneously. </a:t>
            </a:r>
          </a:p>
          <a:p>
            <a:endParaRPr lang="en-US" sz="1600" b="1" dirty="0"/>
          </a:p>
          <a:p>
            <a:r>
              <a:rPr lang="en-US" sz="1600" b="1" dirty="0"/>
              <a:t>One-click Exports </a:t>
            </a:r>
            <a:endParaRPr lang="en-US" sz="1600" dirty="0"/>
          </a:p>
          <a:p>
            <a:r>
              <a:rPr lang="en-US" sz="1600" dirty="0"/>
              <a:t>Download filtered CSVs for reproducible workflows. </a:t>
            </a:r>
          </a:p>
          <a:p>
            <a:endParaRPr lang="en-US" sz="1600" b="1" dirty="0"/>
          </a:p>
          <a:p>
            <a:r>
              <a:rPr lang="en-US" sz="1600" b="1" dirty="0"/>
              <a:t>Modular Design </a:t>
            </a:r>
            <a:endParaRPr lang="en-US" sz="1600" dirty="0"/>
          </a:p>
          <a:p>
            <a:r>
              <a:rPr lang="en-US" sz="1600" dirty="0"/>
              <a:t>Extendable analytics and visualization modules for </a:t>
            </a:r>
          </a:p>
          <a:p>
            <a:r>
              <a:rPr lang="en-US" sz="1600" dirty="0"/>
              <a:t>future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617" y="875822"/>
            <a:ext cx="9961837" cy="16107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Flow of Project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284" y="2209630"/>
            <a:ext cx="7211431" cy="2438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071" y="972537"/>
            <a:ext cx="9997006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Technology Stack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r>
              <a:rPr lang="en-US" sz="1600" b="1" dirty="0"/>
              <a:t>Python </a:t>
            </a:r>
            <a:endParaRPr lang="en-US" sz="1600" dirty="0"/>
          </a:p>
          <a:p>
            <a:r>
              <a:rPr lang="en-US" sz="1600" dirty="0"/>
              <a:t>Core language for data processing and modeling. </a:t>
            </a:r>
          </a:p>
          <a:p>
            <a:endParaRPr lang="en-US" sz="1600" b="1" dirty="0"/>
          </a:p>
          <a:p>
            <a:r>
              <a:rPr lang="en-US" sz="1600" b="1" dirty="0"/>
              <a:t>Streamlit </a:t>
            </a:r>
            <a:endParaRPr lang="en-US" sz="1600" dirty="0"/>
          </a:p>
          <a:p>
            <a:r>
              <a:rPr lang="en-US" sz="1600" dirty="0"/>
              <a:t>Rapid web UI for interactive exploration. </a:t>
            </a:r>
          </a:p>
          <a:p>
            <a:endParaRPr lang="en-US" sz="1600" b="1" dirty="0"/>
          </a:p>
          <a:p>
            <a:r>
              <a:rPr lang="en-US" sz="1600" b="1" dirty="0" err="1"/>
              <a:t>Plotly</a:t>
            </a:r>
            <a:r>
              <a:rPr lang="en-US" sz="1600" b="1" dirty="0"/>
              <a:t> </a:t>
            </a:r>
            <a:endParaRPr lang="en-US" sz="1600" dirty="0"/>
          </a:p>
          <a:p>
            <a:r>
              <a:rPr lang="en-US" sz="1600" dirty="0"/>
              <a:t>Interactive visualization with zoom and hover. </a:t>
            </a:r>
          </a:p>
          <a:p>
            <a:endParaRPr lang="en-US" sz="1600" b="1" dirty="0"/>
          </a:p>
          <a:p>
            <a:r>
              <a:rPr lang="en-US" sz="1600" b="1" dirty="0"/>
              <a:t>Matplotlib </a:t>
            </a:r>
            <a:endParaRPr lang="en-US" sz="1600" dirty="0"/>
          </a:p>
          <a:p>
            <a:r>
              <a:rPr lang="en-US" sz="1600" dirty="0"/>
              <a:t>Static visualizations </a:t>
            </a:r>
            <a:r>
              <a:rPr lang="en-US" sz="1600"/>
              <a:t>and publication ready </a:t>
            </a:r>
            <a:r>
              <a:rPr lang="en-US" sz="1600" dirty="0"/>
              <a:t>plots. </a:t>
            </a:r>
          </a:p>
          <a:p>
            <a:endParaRPr lang="en-US" sz="1600" b="1" dirty="0"/>
          </a:p>
          <a:p>
            <a:r>
              <a:rPr lang="en-US" sz="1600" b="1" dirty="0"/>
              <a:t>Scikit-learn </a:t>
            </a:r>
            <a:endParaRPr lang="en-US" sz="1600" dirty="0"/>
          </a:p>
          <a:p>
            <a:r>
              <a:rPr lang="en-US" sz="1600" dirty="0"/>
              <a:t>Machine learning and statistical analysis. </a:t>
            </a:r>
          </a:p>
          <a:p>
            <a:endParaRPr lang="en-US" sz="1600" b="1" dirty="0"/>
          </a:p>
          <a:p>
            <a:r>
              <a:rPr lang="en-US" sz="1600" b="1" dirty="0"/>
              <a:t>Seaborn </a:t>
            </a:r>
            <a:endParaRPr lang="en-US" sz="1600" dirty="0"/>
          </a:p>
          <a:p>
            <a:r>
              <a:rPr lang="en-US" sz="1600" dirty="0"/>
              <a:t>Statistical data visualization.</a:t>
            </a:r>
            <a:endParaRPr lang="en-IN" sz="1600" b="1" dirty="0">
              <a:solidFill>
                <a:srgbClr val="21316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FF69E8-FE5C-BFB8-A6A2-4A45C7548E88}"/>
              </a:ext>
            </a:extLst>
          </p:cNvPr>
          <p:cNvSpPr txBox="1"/>
          <p:nvPr/>
        </p:nvSpPr>
        <p:spPr>
          <a:xfrm>
            <a:off x="91440" y="792480"/>
            <a:ext cx="10678160" cy="6493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3164"/>
                </a:solidFill>
              </a:rPr>
              <a:t>✅ INPUT FIELDS (System Inputs)</a:t>
            </a:r>
          </a:p>
          <a:p>
            <a:endParaRPr lang="en-US" b="1" dirty="0"/>
          </a:p>
          <a:p>
            <a:r>
              <a:rPr lang="en-US" sz="1800" b="1" dirty="0"/>
              <a:t>1️⃣ CSV File Upload</a:t>
            </a:r>
          </a:p>
          <a:p>
            <a:r>
              <a:rPr lang="en-US" sz="1800" dirty="0"/>
              <a:t>User uploads climate dataset in </a:t>
            </a:r>
            <a:r>
              <a:rPr lang="en-US" sz="1800" b="1" dirty="0"/>
              <a:t>.csv format</a:t>
            </a:r>
            <a:endParaRPr lang="en-US" sz="1800" dirty="0"/>
          </a:p>
          <a:p>
            <a:r>
              <a:rPr lang="en-US" sz="1800" dirty="0"/>
              <a:t>Dataset must contain :</a:t>
            </a:r>
            <a:r>
              <a:rPr lang="en-US" sz="1800" b="1" dirty="0"/>
              <a:t>Year </a:t>
            </a:r>
            <a:r>
              <a:rPr lang="en-US" sz="1800" dirty="0"/>
              <a:t>,</a:t>
            </a:r>
            <a:r>
              <a:rPr lang="en-US" sz="1800" b="1" dirty="0"/>
              <a:t>Value </a:t>
            </a:r>
            <a:r>
              <a:rPr lang="en-US" sz="1800" dirty="0"/>
              <a:t>, </a:t>
            </a:r>
            <a:r>
              <a:rPr lang="en-US" sz="1800" b="1" dirty="0"/>
              <a:t>Indicator , Country</a:t>
            </a:r>
            <a:r>
              <a:rPr lang="en-US" sz="1800" dirty="0"/>
              <a:t> (optional but recommended)</a:t>
            </a:r>
          </a:p>
          <a:p>
            <a:br>
              <a:rPr lang="en-US" sz="1800" dirty="0"/>
            </a:br>
            <a:r>
              <a:rPr lang="en-US" sz="1800" b="1" dirty="0"/>
              <a:t>2️⃣ Indicator Selection (Dropdown)</a:t>
            </a:r>
          </a:p>
          <a:p>
            <a:r>
              <a:rPr lang="en-US" sz="1800" dirty="0"/>
              <a:t>User selects: </a:t>
            </a:r>
            <a:r>
              <a:rPr lang="en-US" sz="1800" b="1" dirty="0"/>
              <a:t>All Indicators </a:t>
            </a:r>
            <a:r>
              <a:rPr lang="en-US" sz="1800" dirty="0"/>
              <a:t>OR  specific indicator (e.g., CO₂ Emissions, Temperature Rise, etc.)</a:t>
            </a:r>
          </a:p>
          <a:p>
            <a:r>
              <a:rPr lang="en-US" sz="1800" dirty="0"/>
              <a:t>Used for filtering data and trend analysis</a:t>
            </a:r>
          </a:p>
          <a:p>
            <a:endParaRPr lang="en-US" sz="1800" dirty="0"/>
          </a:p>
          <a:p>
            <a:r>
              <a:rPr lang="en-US" sz="1800" b="1" dirty="0"/>
              <a:t>3️⃣ Top Countries Slider</a:t>
            </a:r>
          </a:p>
          <a:p>
            <a:r>
              <a:rPr lang="en-US" sz="1800" dirty="0"/>
              <a:t>User selects number of top countries</a:t>
            </a:r>
          </a:p>
          <a:p>
            <a:r>
              <a:rPr lang="en-US" sz="1800" dirty="0"/>
              <a:t>Range: </a:t>
            </a:r>
            <a:r>
              <a:rPr lang="en-US" sz="1800" b="1" dirty="0"/>
              <a:t>5 to 20</a:t>
            </a:r>
            <a:endParaRPr lang="en-US" sz="1800" dirty="0"/>
          </a:p>
          <a:p>
            <a:r>
              <a:rPr lang="en-US" sz="1800" dirty="0"/>
              <a:t>Used for bar chart visualization</a:t>
            </a:r>
          </a:p>
          <a:p>
            <a:br>
              <a:rPr lang="en-US" sz="1800" dirty="0"/>
            </a:br>
            <a:r>
              <a:rPr lang="en-US" sz="1800" b="1" dirty="0"/>
              <a:t>4️⃣ Tabs Selection</a:t>
            </a:r>
          </a:p>
          <a:p>
            <a:r>
              <a:rPr lang="en-US" sz="1800" dirty="0"/>
              <a:t>User can navigate between:</a:t>
            </a:r>
          </a:p>
          <a:p>
            <a:r>
              <a:rPr lang="en-US" sz="1800" dirty="0"/>
              <a:t>Summary</a:t>
            </a:r>
          </a:p>
          <a:p>
            <a:r>
              <a:rPr lang="en-US" sz="1800" dirty="0"/>
              <a:t>Charts</a:t>
            </a:r>
          </a:p>
          <a:p>
            <a:r>
              <a:rPr lang="en-US" sz="1800" dirty="0"/>
              <a:t>Trends</a:t>
            </a:r>
          </a:p>
          <a:p>
            <a:r>
              <a:rPr lang="en-US" sz="1800" dirty="0"/>
              <a:t>Export</a:t>
            </a:r>
          </a:p>
          <a:p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129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326C0B-037E-F0C8-192F-48858054EC7E}"/>
              </a:ext>
            </a:extLst>
          </p:cNvPr>
          <p:cNvSpPr txBox="1"/>
          <p:nvPr/>
        </p:nvSpPr>
        <p:spPr>
          <a:xfrm>
            <a:off x="0" y="822959"/>
            <a:ext cx="11755120" cy="6216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3164"/>
                </a:solidFill>
              </a:rPr>
              <a:t>✅ OUTPUT FIELDS (System Outputs)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sz="1800" b="1" dirty="0"/>
              <a:t>📊 1️⃣ Summary Tab Output</a:t>
            </a:r>
          </a:p>
          <a:p>
            <a:r>
              <a:rPr lang="en-US" sz="1800" dirty="0"/>
              <a:t>Dataset statistical summary (Mean, Std, Min, Max) , Column names display , Unique Indicators list</a:t>
            </a:r>
          </a:p>
          <a:p>
            <a:r>
              <a:rPr lang="en-US" sz="1800" dirty="0"/>
              <a:t>, Unique Countries list , Mean value of each Indicator</a:t>
            </a:r>
          </a:p>
          <a:p>
            <a:br>
              <a:rPr lang="en-US" sz="1800" dirty="0"/>
            </a:br>
            <a:r>
              <a:rPr lang="en-US" sz="1800" b="1" dirty="0"/>
              <a:t>📈 2️⃣ Charts Tab Output</a:t>
            </a:r>
          </a:p>
          <a:p>
            <a:r>
              <a:rPr lang="en-US" sz="1800" b="1" dirty="0"/>
              <a:t>• </a:t>
            </a:r>
            <a:r>
              <a:rPr lang="en-US" sz="1800" dirty="0"/>
              <a:t>Pie Chart</a:t>
            </a:r>
          </a:p>
          <a:p>
            <a:r>
              <a:rPr lang="en-US" sz="1800" dirty="0"/>
              <a:t>• Time Series Graph</a:t>
            </a:r>
          </a:p>
          <a:p>
            <a:r>
              <a:rPr lang="en-US" sz="1800" dirty="0"/>
              <a:t>• Bar Chart</a:t>
            </a:r>
          </a:p>
          <a:p>
            <a:r>
              <a:rPr lang="en-US" sz="1800" dirty="0"/>
              <a:t>• Correlation Heatmap</a:t>
            </a:r>
          </a:p>
          <a:p>
            <a:endParaRPr lang="en-US" sz="1800" dirty="0"/>
          </a:p>
          <a:p>
            <a:r>
              <a:rPr lang="en-US" sz="1800" b="1" dirty="0"/>
              <a:t>📉 3️⃣ Trends Tab Output</a:t>
            </a:r>
          </a:p>
          <a:p>
            <a:r>
              <a:rPr lang="en-US" sz="1800" dirty="0"/>
              <a:t>• Linear Regression Results , Slope value , R² score</a:t>
            </a:r>
          </a:p>
          <a:p>
            <a:r>
              <a:rPr lang="en-US" sz="1800" dirty="0"/>
              <a:t>• Scatter Plot with Trend Line</a:t>
            </a:r>
          </a:p>
          <a:p>
            <a:r>
              <a:rPr lang="en-US" sz="1800" dirty="0"/>
              <a:t>• Indicator-wise Slope Comparison</a:t>
            </a:r>
          </a:p>
          <a:p>
            <a:endParaRPr lang="en-US" sz="1800" dirty="0"/>
          </a:p>
          <a:p>
            <a:r>
              <a:rPr lang="en-US" sz="1800" b="1" dirty="0"/>
              <a:t>📥 4️⃣ Export Tab Output</a:t>
            </a:r>
          </a:p>
          <a:p>
            <a:r>
              <a:rPr lang="en-US" sz="1800" dirty="0"/>
              <a:t>Download filtered dataset as CSV</a:t>
            </a:r>
          </a:p>
          <a:p>
            <a:endParaRPr lang="en-US" sz="1800" dirty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232258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9039" y="952217"/>
            <a:ext cx="11693921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Result/Outcomes Screen-shots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r>
              <a:rPr lang="en-IN" sz="2000" b="1" dirty="0">
                <a:solidFill>
                  <a:srgbClr val="213163"/>
                </a:solidFill>
              </a:rPr>
              <a:t>Main Pages:- 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42409-88C6-ECB4-865E-1B77F7600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2032000"/>
            <a:ext cx="9978118" cy="4734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5076E-7906-4889-E376-64706E785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" y="804137"/>
            <a:ext cx="4622800" cy="3050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E98F2F-F541-622B-61B2-8944A02E2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520" y="895578"/>
            <a:ext cx="5151122" cy="2873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92AD48-FF53-0F79-F325-8141D89EB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80" y="3972560"/>
            <a:ext cx="964184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59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071" y="972537"/>
            <a:ext cx="11271891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Conclusion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r>
              <a:rPr lang="en-US" sz="1600" dirty="0"/>
              <a:t>Climate data Analysis bridges raw climate records and actionable insights through a modular Streamlit platform. The project demonstrates practical application of data science, visualization, and scalable design. </a:t>
            </a:r>
          </a:p>
          <a:p>
            <a:endParaRPr lang="en-US" sz="1600" b="1" dirty="0"/>
          </a:p>
          <a:p>
            <a:r>
              <a:rPr lang="en-US" sz="1600" b="1" dirty="0"/>
              <a:t>1 Short-term </a:t>
            </a:r>
            <a:endParaRPr lang="en-US" sz="1600" dirty="0"/>
          </a:p>
          <a:p>
            <a:r>
              <a:rPr lang="en-US" sz="1600" dirty="0"/>
              <a:t>Implement automated data ingestion and scheduled reports. </a:t>
            </a:r>
          </a:p>
          <a:p>
            <a:endParaRPr lang="en-US" sz="1600" b="1" dirty="0"/>
          </a:p>
          <a:p>
            <a:r>
              <a:rPr lang="en-US" sz="1600" b="1" dirty="0"/>
              <a:t>2 Medium-term </a:t>
            </a:r>
            <a:endParaRPr lang="en-US" sz="1600" dirty="0"/>
          </a:p>
          <a:p>
            <a:r>
              <a:rPr lang="en-US" sz="1600" dirty="0"/>
              <a:t>Add forecasting models and ensemble methods for stronger trend estimates. </a:t>
            </a:r>
          </a:p>
          <a:p>
            <a:endParaRPr lang="en-US" sz="1600" b="1" dirty="0"/>
          </a:p>
          <a:p>
            <a:r>
              <a:rPr lang="en-US" sz="1600" b="1" dirty="0"/>
              <a:t>3 Long-term</a:t>
            </a:r>
          </a:p>
          <a:p>
            <a:r>
              <a:rPr lang="en-US" sz="1600" b="1" dirty="0"/>
              <a:t> </a:t>
            </a:r>
            <a:r>
              <a:rPr lang="en-US" sz="1600" dirty="0"/>
              <a:t>Deploy as a multi-user web service with role-based acc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930" y="972820"/>
            <a:ext cx="11236960" cy="50704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Future Perspective</a:t>
            </a:r>
          </a:p>
          <a:p>
            <a:endParaRPr lang="en-US" dirty="0"/>
          </a:p>
          <a:p>
            <a:endParaRPr lang="en-US" altLang="en-US" sz="1800" dirty="0"/>
          </a:p>
          <a:p>
            <a:r>
              <a:rPr lang="en-US" altLang="en-US" sz="1800" dirty="0"/>
              <a:t>Short Term:</a:t>
            </a:r>
          </a:p>
          <a:p>
            <a:r>
              <a:rPr lang="en-US" altLang="en-US" sz="1800" dirty="0"/>
              <a:t>Improve data preprocessing, add more interactive visualizations, and automate report generation for quick climate analysis.</a:t>
            </a:r>
          </a:p>
          <a:p>
            <a:endParaRPr lang="en-US" altLang="en-US" sz="1800" dirty="0"/>
          </a:p>
          <a:p>
            <a:r>
              <a:rPr lang="en-US" altLang="en-US" sz="1800" dirty="0"/>
              <a:t>Mid Term:</a:t>
            </a:r>
          </a:p>
          <a:p>
            <a:r>
              <a:rPr lang="en-US" altLang="en-US" sz="1800" dirty="0"/>
              <a:t>Integrate forecasting models and advanced analytics to predict future climate trends and analyze sector-wise impacts.</a:t>
            </a:r>
          </a:p>
          <a:p>
            <a:endParaRPr lang="en-US" altLang="en-US" sz="1800" dirty="0"/>
          </a:p>
          <a:p>
            <a:r>
              <a:rPr lang="en-US" altLang="en-US" sz="1800" dirty="0"/>
              <a:t>Long Term:</a:t>
            </a:r>
          </a:p>
          <a:p>
            <a:r>
              <a:rPr lang="en-US" altLang="en-US" sz="1800" dirty="0"/>
              <a:t>Deploy the system as a cloud-based, AI-driven decision support platform with real-time data integration and multi-user access for policymakers and researchers.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/>
          <p:cNvSpPr txBox="1"/>
          <p:nvPr/>
        </p:nvSpPr>
        <p:spPr>
          <a:xfrm>
            <a:off x="4315206" y="2934286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US" sz="5000" b="1" dirty="0">
                <a:solidFill>
                  <a:srgbClr val="213163"/>
                </a:solidFill>
              </a:rPr>
              <a:t>Thank You</a:t>
            </a:r>
            <a:endParaRPr lang="en-US" sz="5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3706AB80-2608-47D7-8AC8-FA6BC8A9B27C}">
  <ds:schemaRefs/>
</ds:datastoreItem>
</file>

<file path=customXml/itemProps2.xml><?xml version="1.0" encoding="utf-8"?>
<ds:datastoreItem xmlns:ds="http://schemas.openxmlformats.org/officeDocument/2006/customXml" ds:itemID="{7D9E5D5E-A365-4A49-8140-C8CC82A61608}">
  <ds:schemaRefs/>
</ds:datastoreItem>
</file>

<file path=customXml/itemProps3.xml><?xml version="1.0" encoding="utf-8"?>
<ds:datastoreItem xmlns:ds="http://schemas.openxmlformats.org/officeDocument/2006/customXml" ds:itemID="{A6559A34-456E-49A1-8157-9E3D18BFAD3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687</Words>
  <Application>Microsoft Office PowerPoint</Application>
  <PresentationFormat>Widescreen</PresentationFormat>
  <Paragraphs>161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Heer Modi</cp:lastModifiedBy>
  <cp:revision>19</cp:revision>
  <dcterms:created xsi:type="dcterms:W3CDTF">2026-02-09T08:58:28Z</dcterms:created>
  <dcterms:modified xsi:type="dcterms:W3CDTF">2026-02-11T08:02:11Z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  <property fmtid="{D5CDD505-2E9C-101B-9397-08002B2CF9AE}" pid="5" name="ICV">
    <vt:lpwstr>7754C941CAC54E4095B9A066C3F0D871_12</vt:lpwstr>
  </property>
  <property fmtid="{D5CDD505-2E9C-101B-9397-08002B2CF9AE}" pid="6" name="KSOProductBuildVer">
    <vt:lpwstr>1033-12.2.0.23196</vt:lpwstr>
  </property>
</Properties>
</file>